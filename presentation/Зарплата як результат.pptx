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 Bold" charset="1" panose="00000800000000000000"/>
      <p:regular r:id="rId17"/>
    </p:embeddedFont>
    <p:embeddedFont>
      <p:font typeface="Open Sauce Light" charset="1" panose="00000400000000000000"/>
      <p:regular r:id="rId18"/>
    </p:embeddedFont>
    <p:embeddedFont>
      <p:font typeface="Open Sauce" charset="1" panose="00000500000000000000"/>
      <p:regular r:id="rId19"/>
    </p:embeddedFont>
    <p:embeddedFont>
      <p:font typeface="Open Sans Bold" charset="1" panose="020B0806030504020204"/>
      <p:regular r:id="rId20"/>
    </p:embeddedFont>
    <p:embeddedFont>
      <p:font typeface="Open Sans" charset="1" panose="020B06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8285" y="4469864"/>
            <a:ext cx="801015" cy="1347272"/>
          </a:xfrm>
          <a:custGeom>
            <a:avLst/>
            <a:gdLst/>
            <a:ahLst/>
            <a:cxnLst/>
            <a:rect r="r" b="b" t="t" l="l"/>
            <a:pathLst>
              <a:path h="1347272" w="801015">
                <a:moveTo>
                  <a:pt x="0" y="0"/>
                </a:moveTo>
                <a:lnTo>
                  <a:pt x="801015" y="0"/>
                </a:lnTo>
                <a:lnTo>
                  <a:pt x="801015" y="1347272"/>
                </a:lnTo>
                <a:lnTo>
                  <a:pt x="0" y="134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5666" y="4001073"/>
            <a:ext cx="9328025" cy="244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6"/>
              </a:lnSpc>
            </a:pPr>
            <a:r>
              <a:rPr lang="en-US" b="true" sz="9953" spc="-209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ЗАРПЛАТА ЯК РЕЗУЛЬТАТ.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4968" y="7130916"/>
            <a:ext cx="10279657" cy="206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4917" spc="-103">
                <a:solidFill>
                  <a:srgbClr val="EAE3E3">
                    <a:alpha val="85882"/>
                  </a:srgbClr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Як системна державна політика може впливати на професійні можливості й доходи населення?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70144" y="1123211"/>
            <a:ext cx="3189156" cy="26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73"/>
              </a:lnSpc>
            </a:pPr>
            <a:r>
              <a:rPr lang="en-US" sz="2100" spc="98">
                <a:solidFill>
                  <a:srgbClr val="EAE3E3">
                    <a:alpha val="8588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ВЕРЕСЕНЬ 2026 |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2763" y="668297"/>
            <a:ext cx="2408136" cy="142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800" spc="84">
                <a:solidFill>
                  <a:srgbClr val="EAE3E3">
                    <a:alpha val="8588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ДОСЛІДЖЕННЯ НА ОСНОВІ ДАНИХ ДЕРЖАВНОЇ СЛУЖБИ СТАТИСТИКИ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9327" y="2061643"/>
            <a:ext cx="3863312" cy="5766138"/>
          </a:xfrm>
          <a:custGeom>
            <a:avLst/>
            <a:gdLst/>
            <a:ahLst/>
            <a:cxnLst/>
            <a:rect r="r" b="b" t="t" l="l"/>
            <a:pathLst>
              <a:path h="5766138" w="3863312">
                <a:moveTo>
                  <a:pt x="0" y="0"/>
                </a:moveTo>
                <a:lnTo>
                  <a:pt x="3863312" y="0"/>
                </a:lnTo>
                <a:lnTo>
                  <a:pt x="3863312" y="5766138"/>
                </a:lnTo>
                <a:lnTo>
                  <a:pt x="0" y="5766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0368" y="2484331"/>
            <a:ext cx="10847264" cy="202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</a:pPr>
            <a:r>
              <a:rPr lang="en-US" sz="4399" spc="70" b="true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Чому державі ВАРТО турбуватися про рівень заробітних плат у країні?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20368" y="5500010"/>
            <a:ext cx="10676637" cy="110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</a:pPr>
            <a:r>
              <a:rPr lang="en-US" b="true" sz="3599" spc="57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Де закінчується особиста відповідальність і починається відповідальність держави?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40595" y="5272569"/>
            <a:ext cx="1436201" cy="1263857"/>
          </a:xfrm>
          <a:custGeom>
            <a:avLst/>
            <a:gdLst/>
            <a:ahLst/>
            <a:cxnLst/>
            <a:rect r="r" b="b" t="t" l="l"/>
            <a:pathLst>
              <a:path h="1263857" w="1436201">
                <a:moveTo>
                  <a:pt x="0" y="0"/>
                </a:moveTo>
                <a:lnTo>
                  <a:pt x="1436201" y="0"/>
                </a:lnTo>
                <a:lnTo>
                  <a:pt x="1436201" y="1263857"/>
                </a:lnTo>
                <a:lnTo>
                  <a:pt x="0" y="1263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1579" y="5233530"/>
            <a:ext cx="1302896" cy="1302896"/>
          </a:xfrm>
          <a:custGeom>
            <a:avLst/>
            <a:gdLst/>
            <a:ahLst/>
            <a:cxnLst/>
            <a:rect r="r" b="b" t="t" l="l"/>
            <a:pathLst>
              <a:path h="1302896" w="1302896">
                <a:moveTo>
                  <a:pt x="0" y="0"/>
                </a:moveTo>
                <a:lnTo>
                  <a:pt x="1302896" y="0"/>
                </a:lnTo>
                <a:lnTo>
                  <a:pt x="1302896" y="1302896"/>
                </a:lnTo>
                <a:lnTo>
                  <a:pt x="0" y="1302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56568" y="5233530"/>
            <a:ext cx="1316057" cy="1302896"/>
          </a:xfrm>
          <a:custGeom>
            <a:avLst/>
            <a:gdLst/>
            <a:ahLst/>
            <a:cxnLst/>
            <a:rect r="r" b="b" t="t" l="l"/>
            <a:pathLst>
              <a:path h="1302896" w="1316057">
                <a:moveTo>
                  <a:pt x="0" y="0"/>
                </a:moveTo>
                <a:lnTo>
                  <a:pt x="1316057" y="0"/>
                </a:lnTo>
                <a:lnTo>
                  <a:pt x="1316057" y="1302896"/>
                </a:lnTo>
                <a:lnTo>
                  <a:pt x="0" y="13028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7335" y="5322122"/>
            <a:ext cx="1480138" cy="1191511"/>
          </a:xfrm>
          <a:custGeom>
            <a:avLst/>
            <a:gdLst/>
            <a:ahLst/>
            <a:cxnLst/>
            <a:rect r="r" b="b" t="t" l="l"/>
            <a:pathLst>
              <a:path h="1191511" w="1480138">
                <a:moveTo>
                  <a:pt x="0" y="0"/>
                </a:moveTo>
                <a:lnTo>
                  <a:pt x="1480138" y="0"/>
                </a:lnTo>
                <a:lnTo>
                  <a:pt x="1480138" y="1191511"/>
                </a:lnTo>
                <a:lnTo>
                  <a:pt x="0" y="11915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25404" y="5272569"/>
            <a:ext cx="1449012" cy="1354826"/>
          </a:xfrm>
          <a:custGeom>
            <a:avLst/>
            <a:gdLst/>
            <a:ahLst/>
            <a:cxnLst/>
            <a:rect r="r" b="b" t="t" l="l"/>
            <a:pathLst>
              <a:path h="1354826" w="1449012">
                <a:moveTo>
                  <a:pt x="0" y="0"/>
                </a:moveTo>
                <a:lnTo>
                  <a:pt x="1449012" y="0"/>
                </a:lnTo>
                <a:lnTo>
                  <a:pt x="1449012" y="1354827"/>
                </a:lnTo>
                <a:lnTo>
                  <a:pt x="0" y="13548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51084" y="7935090"/>
            <a:ext cx="3021360" cy="2175379"/>
          </a:xfrm>
          <a:custGeom>
            <a:avLst/>
            <a:gdLst/>
            <a:ahLst/>
            <a:cxnLst/>
            <a:rect r="r" b="b" t="t" l="l"/>
            <a:pathLst>
              <a:path h="2175379" w="3021360">
                <a:moveTo>
                  <a:pt x="0" y="0"/>
                </a:moveTo>
                <a:lnTo>
                  <a:pt x="3021360" y="0"/>
                </a:lnTo>
                <a:lnTo>
                  <a:pt x="3021360" y="2175379"/>
                </a:lnTo>
                <a:lnTo>
                  <a:pt x="0" y="21753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25354" y="6820431"/>
            <a:ext cx="1259429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ГЕНДЕР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5047" y="6820431"/>
            <a:ext cx="1259429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ОСВІТА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9956" y="6820431"/>
            <a:ext cx="828298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ВІК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000" y="6797638"/>
            <a:ext cx="2168087" cy="66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ПРОФЕСІЯ/ ВИД Д-СТІ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56777" y="6820431"/>
            <a:ext cx="1259429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СТАЖ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20368" y="2484331"/>
            <a:ext cx="10847264" cy="135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US" b="true" sz="4399" spc="70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ЯКІ ФАКТОРИ ВПЛИВАЮТЬ</a:t>
            </a:r>
          </a:p>
          <a:p>
            <a:pPr algn="ctr">
              <a:lnSpc>
                <a:spcPts val="5367"/>
              </a:lnSpc>
            </a:pPr>
            <a:r>
              <a:rPr lang="en-US" b="true" sz="4399" spc="70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НА РІВЕНЬ ЗАРОБІТНОЇ ПЛАТИ?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051084" y="-431336"/>
            <a:ext cx="3021360" cy="2175379"/>
          </a:xfrm>
          <a:custGeom>
            <a:avLst/>
            <a:gdLst/>
            <a:ahLst/>
            <a:cxnLst/>
            <a:rect r="r" b="b" t="t" l="l"/>
            <a:pathLst>
              <a:path h="2175379" w="3021360">
                <a:moveTo>
                  <a:pt x="0" y="0"/>
                </a:moveTo>
                <a:lnTo>
                  <a:pt x="3021360" y="0"/>
                </a:lnTo>
                <a:lnTo>
                  <a:pt x="3021360" y="2175379"/>
                </a:lnTo>
                <a:lnTo>
                  <a:pt x="0" y="21753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2607" y="857250"/>
            <a:ext cx="11888038" cy="56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ЩО</a:t>
            </a: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ПОКАЗАЛИ ДАНІ?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87553" y="1714761"/>
            <a:ext cx="9938144" cy="86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b="true" sz="2799" spc="44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Освіта має чіт</a:t>
            </a:r>
            <a:r>
              <a:rPr lang="en-US" b="true" sz="2799" spc="44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кий зв’язок із рівнем оплати, тоді як залежність від стажу — нелінійна.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6335" y="2577687"/>
            <a:ext cx="9748376" cy="787832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69190" y="2617880"/>
            <a:ext cx="8203771" cy="7709418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343313" y="9946971"/>
            <a:ext cx="7859117" cy="18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6"/>
              </a:lnSpc>
              <a:spcBef>
                <a:spcPct val="0"/>
              </a:spcBef>
            </a:pPr>
            <a:r>
              <a:rPr lang="en-US" b="true" sz="1200" spc="5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СЕР</a:t>
            </a:r>
            <a:r>
              <a:rPr lang="en-US" b="true" sz="1200" spc="5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ЕДНІ ЗНАЧЕННЯ ЗА 2016 ТА 2020 РОКИ. ДАНІ: ДЕРЖАВНА СЛУЖБА СТАТИСТИКИ УКРАЇНИ.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2607" y="857250"/>
            <a:ext cx="11888038" cy="56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ЩО</a:t>
            </a: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ПОКАЗАЛИ ДАНІ?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9623" y="1714761"/>
            <a:ext cx="14861430" cy="129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b="true" sz="2799" spc="44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Зарплата змінюється залежно від віку та сфер</a:t>
            </a:r>
            <a:r>
              <a:rPr lang="en-US" b="true" sz="2799" spc="44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и діяльності: кар’єрний пік припадає на 35–44 роки, а галузь визначає значну частину різниці в оплаті.</a:t>
            </a:r>
          </a:p>
          <a:p>
            <a:pPr algn="ctr">
              <a:lnSpc>
                <a:spcPts val="3415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40734" y="2820943"/>
            <a:ext cx="9031938" cy="783214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37340" y="2478267"/>
            <a:ext cx="10662541" cy="8224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2607" y="857250"/>
            <a:ext cx="11888038" cy="56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ЩО</a:t>
            </a: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ПОКАЗАЛИ ДАНІ?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9623" y="1771690"/>
            <a:ext cx="14861430" cy="86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b="true" sz="2799" spc="44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Професія суттєво визначає р</a:t>
            </a:r>
            <a:r>
              <a:rPr lang="en-US" b="true" sz="2799" spc="44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івень оплати: найвищі та найнижчі зарплати зосереджені у принципово різних групах професій.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693983" y="2799706"/>
            <a:ext cx="10370729" cy="7797732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770667" y="2728726"/>
            <a:ext cx="11222483" cy="79396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2607" y="857250"/>
            <a:ext cx="11888038" cy="56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ЩО</a:t>
            </a: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ПОКАЗАЛИ ДАНІ?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9623" y="1771690"/>
            <a:ext cx="14861430" cy="86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b="true" sz="2799" spc="44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Зарплати зросли, гендерний розрив скоротився, проте все ще залишається суттєвим.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9211" y="3137200"/>
            <a:ext cx="7425414" cy="692735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43768" y="3135717"/>
            <a:ext cx="7443220" cy="69303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30413" y="370700"/>
            <a:ext cx="14766141" cy="9819484"/>
          </a:xfrm>
          <a:custGeom>
            <a:avLst/>
            <a:gdLst/>
            <a:ahLst/>
            <a:cxnLst/>
            <a:rect r="r" b="b" t="t" l="l"/>
            <a:pathLst>
              <a:path h="9819484" w="14766141">
                <a:moveTo>
                  <a:pt x="0" y="0"/>
                </a:moveTo>
                <a:lnTo>
                  <a:pt x="14766141" y="0"/>
                </a:lnTo>
                <a:lnTo>
                  <a:pt x="14766141" y="9819484"/>
                </a:lnTo>
                <a:lnTo>
                  <a:pt x="0" y="9819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659488" y="3086100"/>
          <a:ext cx="15205943" cy="6315075"/>
        </p:xfrm>
        <a:graphic>
          <a:graphicData uri="http://schemas.openxmlformats.org/drawingml/2006/table">
            <a:tbl>
              <a:tblPr/>
              <a:tblGrid>
                <a:gridCol w="3739141"/>
                <a:gridCol w="11466802"/>
              </a:tblGrid>
              <a:tr h="1188269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Освіта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Чи забезпечуються молоді достатні можливості для здобуття якісної та актуальної освіти?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269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 Стаж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EAE3E3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Як допомогти молоді отримувати професійний досвід ще до виходу на повноцінний ринок праці?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269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Вік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Як забезпечити можливості професійного розвитку та гідної оплати праці на різних етапах кар’єри?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1999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Види економічної дія-ті та професії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Чи має людина достатньо інформації, щоб розуміти, які професії та сфери матимуть попит і забезпечуватимуть кращі можливості працевлаштування та доходу?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269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 Гендерний розрив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Чи мають чоловіки та жінки однакові можливості для професійного розвитку та доступу до високооплачуваних професій і галузей?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199981" y="1310711"/>
            <a:ext cx="11888038" cy="108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ПРОБЛЕМНІ ТОЧКИ ЗА РЕЗУЛЬТАТАМИ ДОСЛІДЖЕННЯ.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30413" y="370700"/>
            <a:ext cx="14766141" cy="9819484"/>
          </a:xfrm>
          <a:custGeom>
            <a:avLst/>
            <a:gdLst/>
            <a:ahLst/>
            <a:cxnLst/>
            <a:rect r="r" b="b" t="t" l="l"/>
            <a:pathLst>
              <a:path h="9819484" w="14766141">
                <a:moveTo>
                  <a:pt x="0" y="0"/>
                </a:moveTo>
                <a:lnTo>
                  <a:pt x="14766141" y="0"/>
                </a:lnTo>
                <a:lnTo>
                  <a:pt x="14766141" y="9819484"/>
                </a:lnTo>
                <a:lnTo>
                  <a:pt x="0" y="9819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81861" y="3308620"/>
            <a:ext cx="2580815" cy="25808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7FF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EAE3E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1. Дані.</a:t>
              </a:r>
            </a:p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AE3E3"/>
                  </a:solidFill>
                  <a:latin typeface="Open Sans"/>
                  <a:ea typeface="Open Sans"/>
                  <a:cs typeface="Open Sans"/>
                  <a:sym typeface="Open Sans"/>
                </a:rPr>
                <a:t>Що показало дослідження?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99981" y="1310711"/>
            <a:ext cx="11888038" cy="56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ВІД ПИТАНЬ - ДО РІШЕНЬ.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8562" y="6908366"/>
            <a:ext cx="14861430" cy="258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799" spc="44" b="true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Результати дослідження зіставлено з положеннями Стратегії зайнятості населення України до 2030 року, схваленої розпорядженням КМУ № 92-р від 7 січня 2026 року.</a:t>
            </a:r>
          </a:p>
          <a:p>
            <a:pPr algn="l">
              <a:lnSpc>
                <a:spcPts val="3415"/>
              </a:lnSpc>
            </a:pPr>
            <a:r>
              <a:rPr lang="en-US" sz="2799" spc="44" b="true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Рекомендації сформовано на основі результатів дослідження та з урахуванням положень Стратегії.</a:t>
            </a:r>
          </a:p>
          <a:p>
            <a:pPr algn="l">
              <a:lnSpc>
                <a:spcPts val="3415"/>
              </a:lnSpc>
            </a:pPr>
          </a:p>
        </p:txBody>
      </p:sp>
      <p:sp>
        <p:nvSpPr>
          <p:cNvPr name="AutoShape 9" id="9"/>
          <p:cNvSpPr/>
          <p:nvPr/>
        </p:nvSpPr>
        <p:spPr>
          <a:xfrm>
            <a:off x="5462677" y="4599028"/>
            <a:ext cx="26762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" id="10"/>
          <p:cNvSpPr/>
          <p:nvPr/>
        </p:nvSpPr>
        <p:spPr>
          <a:xfrm>
            <a:off x="10719464" y="4592158"/>
            <a:ext cx="2676254" cy="7773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8138931" y="3308620"/>
            <a:ext cx="2580815" cy="25808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7FF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 b="true">
                  <a:solidFill>
                    <a:srgbClr val="EAE3E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  <a:r>
                <a:rPr lang="en-US" b="true" sz="2099">
                  <a:solidFill>
                    <a:srgbClr val="EAE3E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. Стратегія.</a:t>
              </a:r>
            </a:p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AE3E3"/>
                  </a:solidFill>
                  <a:latin typeface="Open Sans"/>
                  <a:ea typeface="Open Sans"/>
                  <a:cs typeface="Open Sans"/>
                  <a:sym typeface="Open Sans"/>
                </a:rPr>
                <a:t>Що вже визначено державою?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95719" y="3379486"/>
            <a:ext cx="2580815" cy="258081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7FF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 b="true">
                  <a:solidFill>
                    <a:srgbClr val="EAE3E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  <a:r>
                <a:rPr lang="en-US" b="true" sz="2099">
                  <a:solidFill>
                    <a:srgbClr val="EAE3E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. Рішення.</a:t>
              </a:r>
            </a:p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AE3E3"/>
                  </a:solidFill>
                  <a:latin typeface="Open Sans"/>
                  <a:ea typeface="Open Sans"/>
                  <a:cs typeface="Open Sans"/>
                  <a:sym typeface="Open Sans"/>
                </a:rPr>
                <a:t>Що пропонуємо?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30413" y="370700"/>
            <a:ext cx="14766141" cy="9819484"/>
          </a:xfrm>
          <a:custGeom>
            <a:avLst/>
            <a:gdLst/>
            <a:ahLst/>
            <a:cxnLst/>
            <a:rect r="r" b="b" t="t" l="l"/>
            <a:pathLst>
              <a:path h="9819484" w="14766141">
                <a:moveTo>
                  <a:pt x="0" y="0"/>
                </a:moveTo>
                <a:lnTo>
                  <a:pt x="14766141" y="0"/>
                </a:lnTo>
                <a:lnTo>
                  <a:pt x="14766141" y="9819484"/>
                </a:lnTo>
                <a:lnTo>
                  <a:pt x="0" y="9819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659488" y="3086100"/>
          <a:ext cx="15205943" cy="6686550"/>
        </p:xfrm>
        <a:graphic>
          <a:graphicData uri="http://schemas.openxmlformats.org/drawingml/2006/table">
            <a:tbl>
              <a:tblPr/>
              <a:tblGrid>
                <a:gridCol w="3739141"/>
                <a:gridCol w="11466802"/>
              </a:tblGrid>
              <a:tr h="1187868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Освіта та системна профорієнтація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Забезпечити молоді доступ до якісної та актуальної освіти й системної профорієнтації.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868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Професійний досвід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EAE3E3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Дати молоді можливість отримувати практичний досвід ще до виходу на ринок праці.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1472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Професійний розвиток протягом кар’єри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Забезпечити можливість професійного розвитку на кожному етапі кар’єри.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1472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Доступна інформація про ринок праці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Зробити потреби ринку праці зрозумілими та доступними для громадян.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868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AutoNum type="arabicPeriod" startAt="1"/>
                        <a:defRPr/>
                      </a:pPr>
                      <a:r>
                        <a:rPr lang="en-US" b="true" sz="2100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Гендерний розрив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>
                              <a:alpha val="80000"/>
                            </a:srgbClr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Створювати рівні можливості для професійного розвитку жінок. Розвивати доступну інфраструктуру догляду за дітьми.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199981" y="1310711"/>
            <a:ext cx="11888038" cy="56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b="true" sz="4399" spc="-92">
                <a:solidFill>
                  <a:srgbClr val="F3F801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ЗАПРОПОНОВАНІ РІШЕННЯ.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30413" y="370700"/>
            <a:ext cx="14766141" cy="9819484"/>
          </a:xfrm>
          <a:custGeom>
            <a:avLst/>
            <a:gdLst/>
            <a:ahLst/>
            <a:cxnLst/>
            <a:rect r="r" b="b" t="t" l="l"/>
            <a:pathLst>
              <a:path h="9819484" w="14766141">
                <a:moveTo>
                  <a:pt x="0" y="0"/>
                </a:moveTo>
                <a:lnTo>
                  <a:pt x="14766141" y="0"/>
                </a:lnTo>
                <a:lnTo>
                  <a:pt x="14766141" y="9819484"/>
                </a:lnTo>
                <a:lnTo>
                  <a:pt x="0" y="9819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99399" y="1165642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6502" y="3443108"/>
            <a:ext cx="10396588" cy="406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52"/>
              </a:lnSpc>
            </a:pPr>
            <a:r>
              <a:rPr lang="en-US" b="true" sz="16545" spc="-347">
                <a:solidFill>
                  <a:srgbClr val="F3F80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ДЯКУЮ ЗА УВАГУ!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96502" y="576471"/>
            <a:ext cx="962987" cy="1591713"/>
          </a:xfrm>
          <a:custGeom>
            <a:avLst/>
            <a:gdLst/>
            <a:ahLst/>
            <a:cxnLst/>
            <a:rect r="r" b="b" t="t" l="l"/>
            <a:pathLst>
              <a:path h="1591713" w="962987">
                <a:moveTo>
                  <a:pt x="0" y="0"/>
                </a:moveTo>
                <a:lnTo>
                  <a:pt x="962986" y="0"/>
                </a:lnTo>
                <a:lnTo>
                  <a:pt x="962986" y="1591713"/>
                </a:lnTo>
                <a:lnTo>
                  <a:pt x="0" y="1591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95884" y="8949322"/>
            <a:ext cx="12645952" cy="86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b="true" sz="2799" spc="44">
                <a:solidFill>
                  <a:srgbClr val="EAE3E3">
                    <a:alpha val="8588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Дослідження реалізовано в співпраці GO IT та V.N. Karazin Kharkiv National University.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DAHUh0tZ8AQ</dc:identifier>
  <dcterms:modified xsi:type="dcterms:W3CDTF">2011-08-01T06:04:30Z</dcterms:modified>
  <cp:revision>1</cp:revision>
  <dc:title>Зарплата як результат:</dc:title>
</cp:coreProperties>
</file>